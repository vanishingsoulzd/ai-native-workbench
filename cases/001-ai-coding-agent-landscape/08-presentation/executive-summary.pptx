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F2F5FA"/>
                </a:solidFill>
                <a:latin typeface="Calibri"/>
              </a:rPr>
              <a:t>2026 AI Coding Agent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26080"/>
            <a:ext cx="1054577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0" i="0">
                <a:solidFill>
                  <a:srgbClr val="9FB4D6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54577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C7D3E8"/>
                </a:solidFill>
                <a:latin typeface="Calibri"/>
              </a:rPr>
              <a:t>Market Structure · Product Paradigms · Agent Architecture · Workflow Evolution · Strategic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52160"/>
            <a:ext cx="1054577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5C6B80"/>
                </a:solidFill>
                <a:latin typeface="Calibri"/>
              </a:rPr>
              <a:t>Research snapshot 2026-08-31 · cutoff August 2026 · Locked Phase 3 Top 10 · not a current global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Executive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Core conclusion of the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5855" cy="155448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28655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2182A"/>
                </a:solidFill>
                <a:latin typeface="Calibri"/>
              </a:rPr>
              <a:t>AI Coding Agent is an umbrella market of agentic software-engineering systems. The technical substrate is converging while the product boundary is diverging. Competition is moving Model → Agent System → Workflow: durable differentiation increasingly lives in harness, runtime, context/memory, tools, orchestration, verification and workflow integration — not model identity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44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Umbrella market  </a:t>
            </a:r>
            <a:r>
              <a:rPr sz="1500">
                <a:solidFill>
                  <a:srgbClr val="12182A"/>
                </a:solidFill>
                <a:latin typeface="Calibri"/>
              </a:rPr>
              <a:t>AI Coding Agent = agentic software-engineering systems; substrate converging, product boundary diverging (C006).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Direction  </a:t>
            </a:r>
            <a:r>
              <a:rPr sz="1500">
                <a:solidFill>
                  <a:srgbClr val="12182A"/>
                </a:solidFill>
                <a:latin typeface="Calibri"/>
              </a:rPr>
              <a:t>Model → Agent System → Workflow: durable differentiation is moving above the model layer (C007).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Market denominator  </a:t>
            </a:r>
            <a:r>
              <a:rPr sz="1500">
                <a:solidFill>
                  <a:srgbClr val="12182A"/>
                </a:solidFill>
                <a:latin typeface="Calibri"/>
              </a:rPr>
              <a:t>No defensible single global market-share table for Aug 2026; JetBrains figures are multi-select, not shares (C002, C005).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Productivity  </a:t>
            </a:r>
            <a:r>
              <a:rPr sz="1500">
                <a:solidFill>
                  <a:srgbClr val="12182A"/>
                </a:solidFill>
                <a:latin typeface="Calibri"/>
              </a:rPr>
              <a:t>Benchmarks support capability, not productivity; automated pass overstates maintainer acceptance ~24.2 pts (C013, C014).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Market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Umbrella market — strata are not quality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5855" cy="141732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What the market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10728655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AI Coding Agent is best read as the middle label (agent) expanding into Agentic Software Engineering Platform. The market is an umbrella of related systems, not one homogeneous category.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11185855" cy="141732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Market strata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728655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Stratum A — independently observable mainstream adoption (Claude Code, Copilot, Codex, Cursor). Stratum B — strategic-scale agent platforms (Devin, Qoder, Replit, Factory). Stratum C — open / architecture-significant challengers (OpenCode). Strata are NOT quality tiers.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11185855" cy="141732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Market denominator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0728655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There is NO defensible single global AI Coding Agent market-share table for August 2026. Survey adoption, paid seats, WAU, platform users and enterprise counts measure different objects and must not be collapsed into false precision (JetBrains figures are multi-select, sum to 110%, and are NOT shares of a single denominator).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Locked Phase 3 selection — Market × Technology/Product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B57A12"/>
                </a:solidFill>
                <a:latin typeface="Calibri"/>
              </a:rPr>
              <a:t>Order is locked; do not re-sort or present as a current global ranking.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0876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1. 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4708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8483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Terminal SWE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6304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2735" y="150876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2.  Codex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2735" y="184708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208483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Delegated Multi-agent SWE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51460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3.  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85292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Anysphere / SpaceX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09067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AI-native IDE / Distributed Workspace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246888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251460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4.  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285292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GitHub / Microsoft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309067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GitHub Lifecycle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52044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5.  Devin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85876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Cognition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09651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Delegated Multi-agent SWE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347472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2735" y="352044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6.  Google Antigravity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2735" y="385876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Google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2735" y="409651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Delegated Multi-agent SWE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8056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52628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7.  Replit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486460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Replit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510235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Idea-to-Production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3007" y="448056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2735" y="452628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8.  OpenCode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2735" y="486460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OpenCode / SST ecosystem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2735" y="510235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Open / Provider-agnostic Harness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8640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53212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9.  Qoder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587044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Alibaba Cloud / Qoder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610819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Persistent Task-centric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3007" y="5486400"/>
            <a:ext cx="5455767" cy="932688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2735" y="5532120"/>
            <a:ext cx="523631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F6FE0"/>
                </a:solidFill>
                <a:latin typeface="Calibri"/>
              </a:rPr>
              <a:t>10.  Factory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2735" y="5870448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Factory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2735" y="6108192"/>
            <a:ext cx="5236311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12182A"/>
                </a:solidFill>
                <a:latin typeface="Calibri"/>
              </a:rPr>
              <a:t>Enterprise Autonomous SWE Control Plane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Product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Eight overlapping architectures (Phase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Terminal SWE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Claude Code, OpenCode (Codex partially). The terminal/executable environment is where the agent observes, acts, verifies, repairs.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AI-native IDE / Distributed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47672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Cursor (Qoder overlaps). The IDE stays a first-class human surface while execution moves to remote/background workers.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GitHub Lifecycle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9464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GitHub Copilot. The agent attaches to the software-delivery graph rather than a new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91256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Delegated Multi-agent SWE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191256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Codex, Devin, Antigravity. The task/workstream/session is the unit; the human supervises asynchronous executions.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13048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Persistent Task-centric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13048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Qoder. The task persists across specification, memory, execution, verification and cloud runtime.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Idea-to-Production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434840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Replit Agent. The agent begins before the repository and finishes after the code, inside one managed runtime/deploy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56632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Enterprise Autonomous SWE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56632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Factory (Devin partially). The organization treats the agent as an operational unit running in approved infrastructure under policy.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78424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2F6FE0"/>
                </a:solidFill>
                <a:latin typeface="Calibri"/>
              </a:rPr>
              <a:t>Open / Provider-agnostic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678424"/>
            <a:ext cx="771113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OpenCode. The model provider is a replaceable substrate while the harness stays user-owned/open.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Leadership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Category judgments — not a second overall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AI-native IDE / Distributed Workspace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7160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Agent Command Center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Google Antigravity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Agent-Fleet / Autonomous SWE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46888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Devin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Delegated Multi-agent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1752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Enterprise Deploy-anywhere Runtime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6616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Factory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GitHub Lifecycle 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1480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GitHub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Idea-to-Production Leader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6344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Replit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Market Adoption Leader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21208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Open-source Agent Harness Leader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76072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OpenCode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Persistent Task-centric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30936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Qoder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85800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F6FE0"/>
                </a:solidFill>
                <a:latin typeface="Calibri"/>
              </a:rPr>
              <a:t>Terminal SWE Agent 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858000"/>
            <a:ext cx="63395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12182A"/>
                </a:solidFill>
                <a:latin typeface="Calibri"/>
              </a:rPr>
              <a:t>Claude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Strategic Layer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8 ordered layers (Phase 7) — ordered, not ranked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93543"/>
                <a:gridCol w="2293543"/>
                <a:gridCol w="2293543"/>
                <a:gridCol w="2293543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2F5FA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63500" marR="63500" marT="25400" marB="25400"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5FA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 anchor="ctr" marL="63500" marR="63500" marT="25400" marB="25400"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5FA"/>
                          </a:solidFill>
                          <a:latin typeface="Calibri"/>
                        </a:rPr>
                        <a:t>Differentiation</a:t>
                      </a:r>
                    </a:p>
                  </a:txBody>
                  <a:tcPr anchor="ctr" marL="63500" marR="63500" marT="25400" marB="25400"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5FA"/>
                          </a:solidFill>
                          <a:latin typeface="Calibri"/>
                        </a:rPr>
                        <a:t>Commoditization</a:t>
                      </a:r>
                    </a:p>
                  </a:txBody>
                  <a:tcPr anchor="ctr" marL="63500" marR="63500" marT="25400" marB="25400"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5FA"/>
                          </a:solidFill>
                          <a:latin typeface="Calibri"/>
                        </a:rPr>
                        <a:t>Potential moat</a:t>
                      </a:r>
                    </a:p>
                  </a:txBody>
                  <a:tcPr anchor="ctr" marL="63500" marR="63500" marT="25400" marB="25400">
                    <a:solidFill>
                      <a:srgbClr val="1218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 today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High–Medium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 unless proprietary access/cost/performance is durable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Harness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 for autonomous agents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 (esp. enterprise)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Context / Memory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Medium–High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Medium–High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Tools / MCP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 as substrate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Low–Medium individually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 and rising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Low–Medium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1B22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2182A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218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solidFill>
                      <a:srgbClr val="21293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Capability Commoditization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3-level structure (Phase 7) — no added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545738" cy="50292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545738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2F5FA"/>
                </a:solidFill>
                <a:latin typeface="Calibri"/>
              </a:rPr>
              <a:t>Commodity / rapidly commoditizing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45429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Basic code generation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repository search / basic codebase context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terminal access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basic planning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multi-file editing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basic testing / command execution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MCP support (commoditizing)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Skills / reusable instructions (commoditizing)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978" y="1371600"/>
            <a:ext cx="3545738" cy="50292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2978" y="1371600"/>
            <a:ext cx="3545738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2F5FA"/>
                </a:solidFill>
                <a:latin typeface="Calibri"/>
              </a:rPr>
              <a:t>Differentiating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011680"/>
            <a:ext cx="345429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Reliable verification / repair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long-running execution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context / memory quality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agent orchestration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environment integration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human steering / review 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43036" y="1371600"/>
            <a:ext cx="3545738" cy="50292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3036" y="1371600"/>
            <a:ext cx="3545738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2F5FA"/>
                </a:solidFill>
                <a:latin typeface="Calibri"/>
              </a:rPr>
              <a:t>Potential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8756" y="2011680"/>
            <a:ext cx="345429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Runtime infrastructure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workflow integration (strong)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orchestration / control plane (strong)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organizational memory / context graph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verification / evaluation system</a:t>
            </a:r>
          </a:p>
          <a:p>
            <a:pPr algn="l">
              <a:spcAft>
                <a:spcPts val="700"/>
              </a:spcAft>
            </a:pPr>
            <a:r>
              <a:rPr sz="1250">
                <a:solidFill>
                  <a:srgbClr val="12182A"/>
                </a:solidFill>
                <a:latin typeface="Calibri"/>
              </a:rPr>
              <a:t>•  distribution (strong)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Competitive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Relationships from Phase 6 only — typed, not ranked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835121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12182A"/>
                </a:solidFill>
                <a:latin typeface="Calibri"/>
              </a:rPr>
              <a:t>Claude Code ↔ Codex   Cursor ↔ Qoder   Devin ↔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Adjacent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835121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12182A"/>
                </a:solidFill>
                <a:latin typeface="Calibri"/>
              </a:rPr>
              <a:t>Cursor ↔ Antigravity   Codex ↔ Devin   Copilot ↔ standalone agent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Workflow alternatives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835121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12182A"/>
                </a:solidFill>
                <a:latin typeface="Calibri"/>
              </a:rPr>
              <a:t>Replit ↔ repo-centric agents   Antigravity ↔ Codex / Devin   Copilot ↔ standalone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Architecture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91840"/>
            <a:ext cx="835121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12182A"/>
                </a:solidFill>
                <a:latin typeface="Calibri"/>
              </a:rPr>
              <a:t>OpenCode ↔ vendor-owned harnesses   Factory ↔ SaaS-only cloud agents   Cursor self-hosted ↔ vendor-hosted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B57A12"/>
                </a:solidFill>
                <a:latin typeface="Calibri"/>
              </a:rPr>
              <a:t>No new competitive relationships invented.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Workflow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Work unit rising — not yet whole-workflow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8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2182A"/>
                </a:solidFill>
                <a:latin typeface="Calibri"/>
              </a:rPr>
              <a:t>Code Completion  →  File/Component Editing  →  Issue / Task Resolution  →  Repository-level Execution  →  Project / Product Work  →  Delegated Agent Workstream  →  Parallel Agent Portfolio  →  Engineering Workflow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Already happened  </a:t>
            </a:r>
            <a:r>
              <a:rPr sz="1500">
                <a:solidFill>
                  <a:srgbClr val="12182A"/>
                </a:solidFill>
                <a:latin typeface="Calibri"/>
              </a:rPr>
              <a:t>code generation → repo-level execution; terminal/runtime interaction standard; background agents productized.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Emerging now  </a:t>
            </a:r>
            <a:r>
              <a:rPr sz="1500">
                <a:solidFill>
                  <a:srgbClr val="12182A"/>
                </a:solidFill>
                <a:latin typeface="Calibri"/>
              </a:rPr>
              <a:t>human supervision of parallel agent portfolios; runtime provisioning as part of autonomy; persistent memory as context.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Not yet proven  </a:t>
            </a:r>
            <a:r>
              <a:rPr sz="1500">
                <a:solidFill>
                  <a:srgbClr val="12182A"/>
                </a:solidFill>
                <a:latin typeface="Calibri"/>
              </a:rPr>
              <a:t>reliable low-supervision end-to-end autonomous delivery (C035).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Strategic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Phase 7 scenarios only — no forecasts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85855" cy="132588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A — Model Dominates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2865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Frontier-model progress remains so rapid that model quality is the main differentiator and harness/runtime standardizes. Plausible, but no longer sufficient as the default market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107286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5C6B80"/>
                </a:solidFill>
                <a:latin typeface="Calibri"/>
              </a:rPr>
              <a:t>Limiting evidence: multi-model routing, provider-agnostic products, harness-sensitive benchmarks, runtime-heavy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11185855" cy="132588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B — Agent System Dominates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72865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Harness + runtime + context + memory + tools + orchestration become the main differentiators around still-important models. Most supported current trajectory.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107286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5C6B80"/>
                </a:solidFill>
                <a:latin typeface="Calibri"/>
              </a:rPr>
              <a:t>Confidence: Medium-High.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11185855" cy="132588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70832"/>
            <a:ext cx="1072865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F6FE0"/>
                </a:solidFill>
                <a:latin typeface="Calibri"/>
              </a:rPr>
              <a:t>C — Workflow Platform Dominates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72865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12182A"/>
                </a:solidFill>
                <a:latin typeface="Calibri"/>
              </a:rPr>
              <a:t>Agent systems embed in complete dev workflows (intake, spec, execution, review, deployment, governance, workforce management). Strong strategic direction, but not yet proven as the final winning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66944"/>
            <a:ext cx="107286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5C6B80"/>
                </a:solidFill>
                <a:latin typeface="Calibri"/>
              </a:rPr>
              <a:t>Confidence: plausible, not proven.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B57A12"/>
                </a:solidFill>
                <a:latin typeface="Calibri"/>
              </a:rPr>
              <a:t>Support ordering: Scenario B &gt; Scenario C &gt; Scenario A. This is a strategic judgment, NOT a calibrated probability forecast.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Risks / Unknowns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Evidence limits carried forward, never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447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Market denominator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288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No unified public denominator covers commercial, OSS and China-market coding agents; no defensible single global market-share table for Aug 2026 (C005, C036).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3716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8455" y="14447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Vendor-claim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8455" y="18288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User/customer counts (Codex &gt;5M WAU, Copilot 4.7M/77K, Devin 1M+/4K, Qoder 6M+/100K, Replit 50M platform, Factory scale) are vendor claims, not independent fact (C030, C031).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0449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Benchmark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290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Automated grader pass rates overstate maintainer acceptance by ~24.2 pts; benchmarks do not establish productivity; no clean uplift estimate exists (C013, C014, C016).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29718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30449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Model / provider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34290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Frontier improvements can quickly shift product capability; distribution can increase dependency on a model/provider ecosystem.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6451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Corporate / product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0292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Families actively acquire, rename and expand surfaces (Q→Kiro, Gemini CLI→Antigravity, Windsurf→Devin Desktop, Tongyi Lingma→Qoder); Cursor ownership change is strategic context, not regression (C022–C025, C032).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45720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455" y="46451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Hidden internal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455" y="50292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Planner architectures, routing policies, evaluator internals and success classifiers are not public for most vendors.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172200"/>
            <a:ext cx="5410047" cy="1463040"/>
          </a:xfrm>
          <a:prstGeom prst="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245352"/>
            <a:ext cx="519059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2F6FE0"/>
                </a:solidFill>
                <a:latin typeface="Calibri"/>
              </a:rPr>
              <a:t>Future moat uncertainty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629400"/>
            <a:ext cx="5190591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12182A"/>
                </a:solidFill>
                <a:latin typeface="Calibri"/>
              </a:rPr>
              <a:t>Workflow lock-in durability, long-horizon autonomy reliability, enterprise ROI and security outcomes remain under-measured or unproven (C035).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2F5FA"/>
                </a:solidFill>
                <a:latin typeface="Calibri"/>
              </a:rPr>
              <a:t>Sources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13232"/>
            <a:ext cx="1118585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9FB4D6"/>
                </a:solidFill>
                <a:latin typeface="Calibri"/>
              </a:rPr>
              <a:t>Traceability — every claim maps to 08-sources.md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Source ledger  </a:t>
            </a:r>
            <a:r>
              <a:rPr sz="1500">
                <a:solidFill>
                  <a:srgbClr val="12182A"/>
                </a:solidFill>
                <a:latin typeface="Calibri"/>
              </a:rPr>
              <a:t>08-sources.md registers 36 claims (C001–C036) and 131 sources (S001–S123 external + S200–S208 internal).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Traceability chain  </a:t>
            </a:r>
            <a:r>
              <a:rPr sz="1500">
                <a:solidFill>
                  <a:srgbClr val="12182A"/>
                </a:solidFill>
                <a:latin typeface="Calibri"/>
              </a:rPr>
              <a:t>Claim → Evidence → Source → Date → Evidence Grade → Confidence → Phase — unchanged from Phase 8 Task 2.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Vendor claims  </a:t>
            </a:r>
            <a:r>
              <a:rPr sz="1500">
                <a:solidFill>
                  <a:srgbClr val="12182A"/>
                </a:solidFill>
                <a:latin typeface="Calibri"/>
              </a:rPr>
              <a:t>Codex &gt;5M WAU, Copilot 4.7M/77K, Devin 1M+/4K, Qoder 6M+/100K, Replit 50M platform, Factory scale — retained as vendor claims, never market shares.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Surveys ≠ shares  </a:t>
            </a:r>
            <a:r>
              <a:rPr sz="1500">
                <a:solidFill>
                  <a:srgbClr val="12182A"/>
                </a:solidFill>
                <a:latin typeface="Calibri"/>
              </a:rPr>
              <a:t>JetBrains figures are multi-select (sum to 110%) and are never rendered as a single denominator.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Benchmarks ≠ productivity  </a:t>
            </a:r>
            <a:r>
              <a:rPr sz="1500">
                <a:solidFill>
                  <a:srgbClr val="12182A"/>
                </a:solidFill>
                <a:latin typeface="Calibri"/>
              </a:rPr>
              <a:t>Automated grader pass overstates maintainer acceptance by ~24.2 pts; no clean productivity estimate exists (C013, C014).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FE0"/>
                </a:solidFill>
                <a:latin typeface="Calibri"/>
              </a:rPr>
              <a:t>Rendering only  </a:t>
            </a:r>
            <a:r>
              <a:rPr sz="1500">
                <a:solidFill>
                  <a:srgbClr val="12182A"/>
                </a:solidFill>
                <a:latin typeface="Calibri"/>
              </a:rPr>
              <a:t>This deck introduces no new research, score, share, ranking or strategic claim. Phase 0–7 unmodified.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C6B80"/>
                </a:solidFill>
                <a:latin typeface="Calibri"/>
              </a:rPr>
              <a:t>2026 AI Coding Agent Landscape — Executive Summary · Phase 8 Task 4 · rendering only, no new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C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577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2F5FA"/>
                </a:solidFill>
                <a:latin typeface="Calibri"/>
              </a:rPr>
              <a:t>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104543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2F6FE0"/>
                </a:solidFill>
                <a:latin typeface="Calibri"/>
              </a:rPr>
              <a:t>Umbrella market  </a:t>
            </a:r>
            <a:r>
              <a:rPr sz="1700">
                <a:solidFill>
                  <a:srgbClr val="F2F5FA"/>
                </a:solidFill>
                <a:latin typeface="Calibri"/>
              </a:rPr>
              <a:t>substrate converging, product boundary diverging — compare by paradigm, not feature count.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F6FE0"/>
                </a:solidFill>
                <a:latin typeface="Calibri"/>
              </a:rPr>
              <a:t>Differentiation  </a:t>
            </a:r>
            <a:r>
              <a:rPr sz="1700">
                <a:solidFill>
                  <a:srgbClr val="F2F5FA"/>
                </a:solidFill>
                <a:latin typeface="Calibri"/>
              </a:rPr>
              <a:t>moving to harness, runtime, context/memory, orchestration, verification and workflow integration.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F6FE0"/>
                </a:solidFill>
                <a:latin typeface="Calibri"/>
              </a:rPr>
              <a:t>Top 10 is locked  </a:t>
            </a:r>
            <a:r>
              <a:rPr sz="1700">
                <a:solidFill>
                  <a:srgbClr val="F2F5FA"/>
                </a:solidFill>
                <a:latin typeface="Calibri"/>
              </a:rPr>
              <a:t>a research selection, not a live leaderboard; vendor scale figures stay labeled as vendor claims.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2F6FE0"/>
                </a:solidFill>
                <a:latin typeface="Calibri"/>
              </a:rPr>
              <a:t>Honest limits  </a:t>
            </a:r>
            <a:r>
              <a:rPr sz="1700">
                <a:solidFill>
                  <a:srgbClr val="F2F5FA"/>
                </a:solidFill>
                <a:latin typeface="Calibri"/>
              </a:rPr>
              <a:t>no global share table, autonomy not proven, productivity not cleanly measured — these are standing unknowns.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1045433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C6B80"/>
                </a:solidFill>
                <a:latin typeface="Calibri"/>
              </a:rPr>
              <a:t>Source: 08-dataset (products.csv, candidates.csv), 08-sources.md, 08-research-note.md. Phase 0–7 unmodified.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