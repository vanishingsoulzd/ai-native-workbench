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38100"/>
          </a:xfrm>
          <a:prstGeom prst="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400" b="1" i="0">
                <a:solidFill>
                  <a:srgbClr val="F2F5FA"/>
                </a:solidFill>
                <a:latin typeface="Calibri"/>
              </a:rPr>
              <a:t>2026 AI Coding Agent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926080"/>
            <a:ext cx="10545775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600" b="0" i="0">
                <a:solidFill>
                  <a:srgbClr val="9FB4D6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54577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0" i="0">
                <a:solidFill>
                  <a:srgbClr val="C7D3E8"/>
                </a:solidFill>
                <a:latin typeface="Calibri"/>
              </a:rPr>
              <a:t>Market Structure · Product Paradigms · Agent Architecture · Workflow Evolution · Strategic Outlook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852160"/>
            <a:ext cx="1054577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5C6B80"/>
                </a:solidFill>
                <a:latin typeface="Calibri"/>
              </a:rPr>
              <a:t>Research snapshot 2026-08-31 · cutoff August 2026 · Locked Phase 3 Top 10 · not a current global ranking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Calibri"/>
              </a:rPr>
              <a:t>Executive Judgment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713232"/>
            <a:ext cx="11185855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9FB4D6"/>
                </a:solidFill>
                <a:latin typeface="Calibri"/>
              </a:rPr>
              <a:t>Core conclusion of the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1185855" cy="1554480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728655" cy="12801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800" b="1" i="0">
                <a:solidFill>
                  <a:srgbClr val="12182A"/>
                </a:solidFill>
                <a:latin typeface="Calibri"/>
              </a:rPr>
              <a:t>AI Coding Agent is an umbrella market of agentic software-engineering systems. The technical substrate is converging while the product boundary is diverging. Competition is moving Model → Agent System → Workflow: durable differentiation increasingly lives in harness, runtime, context/memory, tools, orchestration, verification and workflow integration — not model identity alone.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109441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F6FE0"/>
                </a:solidFill>
                <a:latin typeface="Calibri"/>
              </a:rPr>
              <a:t>Umbrella market  </a:t>
            </a:r>
            <a:r>
              <a:rPr sz="1500">
                <a:solidFill>
                  <a:srgbClr val="12182A"/>
                </a:solidFill>
                <a:latin typeface="Calibri"/>
              </a:rPr>
              <a:t>AI Coding Agent = agentic software-engineering systems; substrate converging, product boundary diverging (C006).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F6FE0"/>
                </a:solidFill>
                <a:latin typeface="Calibri"/>
              </a:rPr>
              <a:t>Direction  </a:t>
            </a:r>
            <a:r>
              <a:rPr sz="1500">
                <a:solidFill>
                  <a:srgbClr val="12182A"/>
                </a:solidFill>
                <a:latin typeface="Calibri"/>
              </a:rPr>
              <a:t>Model → Agent System → Workflow: durable differentiation is moving above the model layer (C007).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F6FE0"/>
                </a:solidFill>
                <a:latin typeface="Calibri"/>
              </a:rPr>
              <a:t>Market denominator  </a:t>
            </a:r>
            <a:r>
              <a:rPr sz="1500">
                <a:solidFill>
                  <a:srgbClr val="12182A"/>
                </a:solidFill>
                <a:latin typeface="Calibri"/>
              </a:rPr>
              <a:t>No defensible single global market-share table for Aug 2026; JetBrains figures are multi-select, not shares (C002, C005).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F6FE0"/>
                </a:solidFill>
                <a:latin typeface="Calibri"/>
              </a:rPr>
              <a:t>Productivity  </a:t>
            </a:r>
            <a:r>
              <a:rPr sz="1500">
                <a:solidFill>
                  <a:srgbClr val="12182A"/>
                </a:solidFill>
                <a:latin typeface="Calibri"/>
              </a:rPr>
              <a:t>Benchmarks support capability, not productivity; automated pass overstates maintainer acceptance ~24.2 pts (C013, C014).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C6B80"/>
                </a:solidFill>
                <a:latin typeface="Calibri"/>
              </a:rPr>
              <a:t>2026 AI Coding Agent Landscape — Executive Summary · Phase 8 Task 4 · rendering only, no new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73952"/>
            <a:ext cx="7315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C6B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Calibri"/>
              </a:rPr>
              <a:t>Market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713232"/>
            <a:ext cx="11185855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9FB4D6"/>
                </a:solidFill>
                <a:latin typeface="Calibri"/>
              </a:rPr>
              <a:t>Umbrella market — strata are not quality tiers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1185855" cy="1417320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28655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2F6FE0"/>
                </a:solidFill>
                <a:latin typeface="Calibri"/>
              </a:rPr>
              <a:t>What the market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74520"/>
            <a:ext cx="10728655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0" i="0">
                <a:solidFill>
                  <a:srgbClr val="12182A"/>
                </a:solidFill>
                <a:latin typeface="Calibri"/>
              </a:rPr>
              <a:t>AI Coding Agent is best read as the middle label (agent) expanding into Agentic Software Engineering Platform. The market is an umbrella of related systems, not one homogeneous category.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71800"/>
            <a:ext cx="11185855" cy="1417320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10728655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2F6FE0"/>
                </a:solidFill>
                <a:latin typeface="Calibri"/>
              </a:rPr>
              <a:t>Market strata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10728655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0" i="0">
                <a:solidFill>
                  <a:srgbClr val="12182A"/>
                </a:solidFill>
                <a:latin typeface="Calibri"/>
              </a:rPr>
              <a:t>Stratum A — independently observable mainstream adoption (Claude Code, Copilot, Codex, Cursor). Stratum B — strategic-scale agent platforms (Devin, Qoder, Replit, Factory). Stratum C — open / architecture-significant challengers (OpenCode). Strata are NOT quality tiers.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11185855" cy="1417320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663440"/>
            <a:ext cx="10728655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2F6FE0"/>
                </a:solidFill>
                <a:latin typeface="Calibri"/>
              </a:rPr>
              <a:t>Market denominator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74920"/>
            <a:ext cx="10728655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0" i="0">
                <a:solidFill>
                  <a:srgbClr val="12182A"/>
                </a:solidFill>
                <a:latin typeface="Calibri"/>
              </a:rPr>
              <a:t>There is NO defensible single global AI Coding Agent market-share table for August 2026. Survey adoption, paid seats, WAU, platform users and enterprise counts measure different objects and must not be collapsed into false precision (JetBrains figures are multi-select, sum to 110%, and are NOT shares of a single denominator).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C6B80"/>
                </a:solidFill>
                <a:latin typeface="Calibri"/>
              </a:rPr>
              <a:t>2026 AI Coding Agent Landscape — Executive Summary · Phase 8 Task 4 · rendering only, no new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73952"/>
            <a:ext cx="7315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C6B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Calibri"/>
              </a:rPr>
              <a:t>Top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713232"/>
            <a:ext cx="11185855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9FB4D6"/>
                </a:solidFill>
                <a:latin typeface="Calibri"/>
              </a:rPr>
              <a:t>Locked Phase 3 selection — Market × Technology/Product Significance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11185855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1">
                <a:solidFill>
                  <a:srgbClr val="B57A12"/>
                </a:solidFill>
                <a:latin typeface="Calibri"/>
              </a:rPr>
              <a:t>Order is locked; do not re-sort or present as a current global ranking.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5455767" cy="932688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508760"/>
            <a:ext cx="523631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2F6FE0"/>
                </a:solidFill>
                <a:latin typeface="Calibri"/>
              </a:rPr>
              <a:t>1.  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847088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5C6B80"/>
                </a:solidFill>
                <a:latin typeface="Calibri"/>
              </a:rPr>
              <a:t>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084832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0" i="0">
                <a:solidFill>
                  <a:srgbClr val="12182A"/>
                </a:solidFill>
                <a:latin typeface="Calibri"/>
              </a:rPr>
              <a:t>Terminal SWE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1463040"/>
            <a:ext cx="5455767" cy="932688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2735" y="1508760"/>
            <a:ext cx="523631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2F6FE0"/>
                </a:solidFill>
                <a:latin typeface="Calibri"/>
              </a:rPr>
              <a:t>2.  Codex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2735" y="1847088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5C6B80"/>
                </a:solidFill>
                <a:latin typeface="Calibri"/>
              </a:rPr>
              <a:t>OpenAI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2735" y="2084832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0" i="0">
                <a:solidFill>
                  <a:srgbClr val="12182A"/>
                </a:solidFill>
                <a:latin typeface="Calibri"/>
              </a:rPr>
              <a:t>Delegated Multi-agent SWE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68880"/>
            <a:ext cx="5455767" cy="932688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514600"/>
            <a:ext cx="523631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2F6FE0"/>
                </a:solidFill>
                <a:latin typeface="Calibri"/>
              </a:rPr>
              <a:t>3.  Cursor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852928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5C6B80"/>
                </a:solidFill>
                <a:latin typeface="Calibri"/>
              </a:rPr>
              <a:t>Anysphere / SpaceX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3090672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0" i="0">
                <a:solidFill>
                  <a:srgbClr val="12182A"/>
                </a:solidFill>
                <a:latin typeface="Calibri"/>
              </a:rPr>
              <a:t>AI-native IDE / Distributed Workspace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3007" y="2468880"/>
            <a:ext cx="5455767" cy="932688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2735" y="2514600"/>
            <a:ext cx="523631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2F6FE0"/>
                </a:solidFill>
                <a:latin typeface="Calibri"/>
              </a:rPr>
              <a:t>4.  GitHub Copilot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852928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5C6B80"/>
                </a:solidFill>
                <a:latin typeface="Calibri"/>
              </a:rPr>
              <a:t>GitHub / Microsoft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2735" y="3090672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0" i="0">
                <a:solidFill>
                  <a:srgbClr val="12182A"/>
                </a:solidFill>
                <a:latin typeface="Calibri"/>
              </a:rPr>
              <a:t>GitHub Lifecycle Agent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5455767" cy="932688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520440"/>
            <a:ext cx="523631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2F6FE0"/>
                </a:solidFill>
                <a:latin typeface="Calibri"/>
              </a:rPr>
              <a:t>5.  Devin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" y="3858768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5C6B80"/>
                </a:solidFill>
                <a:latin typeface="Calibri"/>
              </a:rPr>
              <a:t>Cognition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4096512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0" i="0">
                <a:solidFill>
                  <a:srgbClr val="12182A"/>
                </a:solidFill>
                <a:latin typeface="Calibri"/>
              </a:rPr>
              <a:t>Delegated Multi-agent SWE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474720"/>
            <a:ext cx="5455767" cy="932688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2735" y="3520440"/>
            <a:ext cx="523631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2F6FE0"/>
                </a:solidFill>
                <a:latin typeface="Calibri"/>
              </a:rPr>
              <a:t>6.  Google Antigravity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3858768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5C6B80"/>
                </a:solidFill>
                <a:latin typeface="Calibri"/>
              </a:rPr>
              <a:t>Google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096512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0" i="0">
                <a:solidFill>
                  <a:srgbClr val="12182A"/>
                </a:solidFill>
                <a:latin typeface="Calibri"/>
              </a:rPr>
              <a:t>Delegated Multi-agent SWE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480560"/>
            <a:ext cx="5455767" cy="932688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" y="4526280"/>
            <a:ext cx="523631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2F6FE0"/>
                </a:solidFill>
                <a:latin typeface="Calibri"/>
              </a:rPr>
              <a:t>7.  Replit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" y="4864608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5C6B80"/>
                </a:solidFill>
                <a:latin typeface="Calibri"/>
              </a:rPr>
              <a:t>Replit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" y="5102352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0" i="0">
                <a:solidFill>
                  <a:srgbClr val="12182A"/>
                </a:solidFill>
                <a:latin typeface="Calibri"/>
              </a:rPr>
              <a:t>Idea-to-Production Agent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3007" y="4480560"/>
            <a:ext cx="5455767" cy="932688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4526280"/>
            <a:ext cx="523631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2F6FE0"/>
                </a:solidFill>
                <a:latin typeface="Calibri"/>
              </a:rPr>
              <a:t>8.  OpenCode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4864608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5C6B80"/>
                </a:solidFill>
                <a:latin typeface="Calibri"/>
              </a:rPr>
              <a:t>OpenCode / SST ecosystem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5102352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0" i="0">
                <a:solidFill>
                  <a:srgbClr val="12182A"/>
                </a:solidFill>
                <a:latin typeface="Calibri"/>
              </a:rPr>
              <a:t>Open / Provider-agnostic Harness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486400"/>
            <a:ext cx="5455767" cy="932688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" y="5532120"/>
            <a:ext cx="523631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2F6FE0"/>
                </a:solidFill>
                <a:latin typeface="Calibri"/>
              </a:rPr>
              <a:t>9.  Qoder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" y="5870448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5C6B80"/>
                </a:solidFill>
                <a:latin typeface="Calibri"/>
              </a:rPr>
              <a:t>Alibaba Cloud / Qoder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" y="6108192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0" i="0">
                <a:solidFill>
                  <a:srgbClr val="12182A"/>
                </a:solidFill>
                <a:latin typeface="Calibri"/>
              </a:rPr>
              <a:t>Persistent Task-centric 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33007" y="5486400"/>
            <a:ext cx="5455767" cy="932688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2735" y="5532120"/>
            <a:ext cx="523631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2F6FE0"/>
                </a:solidFill>
                <a:latin typeface="Calibri"/>
              </a:rPr>
              <a:t>10.  Factory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2735" y="5870448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5C6B80"/>
                </a:solidFill>
                <a:latin typeface="Calibri"/>
              </a:rPr>
              <a:t>Factory AI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2735" y="6108192"/>
            <a:ext cx="5236311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50" b="0" i="0">
                <a:solidFill>
                  <a:srgbClr val="12182A"/>
                </a:solidFill>
                <a:latin typeface="Calibri"/>
              </a:rPr>
              <a:t>Enterprise Autonomous SWE Control Plane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73952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C6B80"/>
                </a:solidFill>
                <a:latin typeface="Calibri"/>
              </a:rPr>
              <a:t>2026 AI Coding Agent Landscape — Executive Summary · Phase 8 Task 4 · rendering only, no new research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94415" y="6473952"/>
            <a:ext cx="7315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C6B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Calibri"/>
              </a:rPr>
              <a:t>Product Paradigms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713232"/>
            <a:ext cx="11185855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9FB4D6"/>
                </a:solidFill>
                <a:latin typeface="Calibri"/>
              </a:rPr>
              <a:t>Eight overlapping architectures (Phase 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33832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50" b="1" i="0">
                <a:solidFill>
                  <a:srgbClr val="2F6FE0"/>
                </a:solidFill>
                <a:latin typeface="Calibri"/>
              </a:rPr>
              <a:t>Terminal SWE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325880"/>
            <a:ext cx="7711135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12182A"/>
                </a:solidFill>
                <a:latin typeface="Calibri"/>
              </a:rPr>
              <a:t>Claude Code, OpenCode (Codex partially). The terminal/executable environment is where the agent observes, acts, verifies, repairs.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47672"/>
            <a:ext cx="33832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50" b="1" i="0">
                <a:solidFill>
                  <a:srgbClr val="2F6FE0"/>
                </a:solidFill>
                <a:latin typeface="Calibri"/>
              </a:rPr>
              <a:t>AI-native IDE / Distributed Workspace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947672"/>
            <a:ext cx="7711135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12182A"/>
                </a:solidFill>
                <a:latin typeface="Calibri"/>
              </a:rPr>
              <a:t>Cursor (Qoder overlaps). The IDE stays a first-class human surface while execution moves to remote/background workers.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69464"/>
            <a:ext cx="33832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50" b="1" i="0">
                <a:solidFill>
                  <a:srgbClr val="2F6FE0"/>
                </a:solidFill>
                <a:latin typeface="Calibri"/>
              </a:rPr>
              <a:t>GitHub Lifecycle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569464"/>
            <a:ext cx="7711135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12182A"/>
                </a:solidFill>
                <a:latin typeface="Calibri"/>
              </a:rPr>
              <a:t>GitHub Copilot. The agent attaches to the software-delivery graph rather than a new environment.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91256"/>
            <a:ext cx="33832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50" b="1" i="0">
                <a:solidFill>
                  <a:srgbClr val="2F6FE0"/>
                </a:solidFill>
                <a:latin typeface="Calibri"/>
              </a:rPr>
              <a:t>Delegated Multi-agent SWE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191256"/>
            <a:ext cx="7711135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12182A"/>
                </a:solidFill>
                <a:latin typeface="Calibri"/>
              </a:rPr>
              <a:t>Codex, Devin, Antigravity. The task/workstream/session is the unit; the human supervises asynchronous executions.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13048"/>
            <a:ext cx="33832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50" b="1" i="0">
                <a:solidFill>
                  <a:srgbClr val="2F6FE0"/>
                </a:solidFill>
                <a:latin typeface="Calibri"/>
              </a:rPr>
              <a:t>Persistent Task-centric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813048"/>
            <a:ext cx="7711135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12182A"/>
                </a:solidFill>
                <a:latin typeface="Calibri"/>
              </a:rPr>
              <a:t>Qoder. The task persists across specification, memory, execution, verification and cloud runtime.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34840"/>
            <a:ext cx="33832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50" b="1" i="0">
                <a:solidFill>
                  <a:srgbClr val="2F6FE0"/>
                </a:solidFill>
                <a:latin typeface="Calibri"/>
              </a:rPr>
              <a:t>Idea-to-Production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434840"/>
            <a:ext cx="7711135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12182A"/>
                </a:solidFill>
                <a:latin typeface="Calibri"/>
              </a:rPr>
              <a:t>Replit Agent. The agent begins before the repository and finishes after the code, inside one managed runtime/deploy system.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56632"/>
            <a:ext cx="33832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50" b="1" i="0">
                <a:solidFill>
                  <a:srgbClr val="2F6FE0"/>
                </a:solidFill>
                <a:latin typeface="Calibri"/>
              </a:rPr>
              <a:t>Enterprise Autonomous SWE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056632"/>
            <a:ext cx="7711135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12182A"/>
                </a:solidFill>
                <a:latin typeface="Calibri"/>
              </a:rPr>
              <a:t>Factory (Devin partially). The organization treats the agent as an operational unit running in approved infrastructure under policy.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78424"/>
            <a:ext cx="338328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50" b="1" i="0">
                <a:solidFill>
                  <a:srgbClr val="2F6FE0"/>
                </a:solidFill>
                <a:latin typeface="Calibri"/>
              </a:rPr>
              <a:t>Open / Provider-agnostic Harness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5678424"/>
            <a:ext cx="7711135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12182A"/>
                </a:solidFill>
                <a:latin typeface="Calibri"/>
              </a:rPr>
              <a:t>OpenCode. The model provider is a replaceable substrate while the harness stays user-owned/open.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73952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C6B80"/>
                </a:solidFill>
                <a:latin typeface="Calibri"/>
              </a:rPr>
              <a:t>2026 AI Coding Agent Landscape — Executive Summary · Phase 8 Task 4 · rendering only, no new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73952"/>
            <a:ext cx="7315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C6B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Calibri"/>
              </a:rPr>
              <a:t>Leadership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713232"/>
            <a:ext cx="11185855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9FB4D6"/>
                </a:solidFill>
                <a:latin typeface="Calibri"/>
              </a:rPr>
              <a:t>Category judgments — not a second overall 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47548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F6FE0"/>
                </a:solidFill>
                <a:latin typeface="Calibri"/>
              </a:rPr>
              <a:t>AI-native IDE / Distributed Workspace Leader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371600"/>
            <a:ext cx="633953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0" i="0">
                <a:solidFill>
                  <a:srgbClr val="12182A"/>
                </a:solidFill>
                <a:latin typeface="Calibri"/>
              </a:rPr>
              <a:t>Cursor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47548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F6FE0"/>
                </a:solidFill>
                <a:latin typeface="Calibri"/>
              </a:rPr>
              <a:t>Agent Command Center Leader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1920240"/>
            <a:ext cx="633953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0" i="0">
                <a:solidFill>
                  <a:srgbClr val="12182A"/>
                </a:solidFill>
                <a:latin typeface="Calibri"/>
              </a:rPr>
              <a:t>Google Antigravity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47548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F6FE0"/>
                </a:solidFill>
                <a:latin typeface="Calibri"/>
              </a:rPr>
              <a:t>Agent-Fleet / Autonomous SWE Leader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468880"/>
            <a:ext cx="633953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0" i="0">
                <a:solidFill>
                  <a:srgbClr val="12182A"/>
                </a:solidFill>
                <a:latin typeface="Calibri"/>
              </a:rPr>
              <a:t>Devin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17520"/>
            <a:ext cx="47548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F6FE0"/>
                </a:solidFill>
                <a:latin typeface="Calibri"/>
              </a:rPr>
              <a:t>Delegated Multi-agent Leader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017520"/>
            <a:ext cx="633953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0" i="0">
                <a:solidFill>
                  <a:srgbClr val="12182A"/>
                </a:solidFill>
                <a:latin typeface="Calibri"/>
              </a:rPr>
              <a:t>Codex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47548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F6FE0"/>
                </a:solidFill>
                <a:latin typeface="Calibri"/>
              </a:rPr>
              <a:t>Enterprise Deploy-anywhere Runtime Leader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566160"/>
            <a:ext cx="633953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0" i="0">
                <a:solidFill>
                  <a:srgbClr val="12182A"/>
                </a:solidFill>
                <a:latin typeface="Calibri"/>
              </a:rPr>
              <a:t>Factory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47548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F6FE0"/>
                </a:solidFill>
                <a:latin typeface="Calibri"/>
              </a:rPr>
              <a:t>GitHub Lifecycle Leader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114800"/>
            <a:ext cx="633953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0" i="0">
                <a:solidFill>
                  <a:srgbClr val="12182A"/>
                </a:solidFill>
                <a:latin typeface="Calibri"/>
              </a:rPr>
              <a:t>GitHub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663440"/>
            <a:ext cx="47548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F6FE0"/>
                </a:solidFill>
                <a:latin typeface="Calibri"/>
              </a:rPr>
              <a:t>Idea-to-Production Leader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663440"/>
            <a:ext cx="633953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0" i="0">
                <a:solidFill>
                  <a:srgbClr val="12182A"/>
                </a:solidFill>
                <a:latin typeface="Calibri"/>
              </a:rPr>
              <a:t>Replit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12080"/>
            <a:ext cx="47548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F6FE0"/>
                </a:solidFill>
                <a:latin typeface="Calibri"/>
              </a:rPr>
              <a:t>Market Adoption Leader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5212080"/>
            <a:ext cx="633953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0" i="0">
                <a:solidFill>
                  <a:srgbClr val="12182A"/>
                </a:solidFill>
                <a:latin typeface="Calibri"/>
              </a:rPr>
              <a:t>Claude Code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760720"/>
            <a:ext cx="47548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F6FE0"/>
                </a:solidFill>
                <a:latin typeface="Calibri"/>
              </a:rPr>
              <a:t>Open-source Agent Harness Leader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760720"/>
            <a:ext cx="633953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0" i="0">
                <a:solidFill>
                  <a:srgbClr val="12182A"/>
                </a:solidFill>
                <a:latin typeface="Calibri"/>
              </a:rPr>
              <a:t>OpenCode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09360"/>
            <a:ext cx="47548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F6FE0"/>
                </a:solidFill>
                <a:latin typeface="Calibri"/>
              </a:rPr>
              <a:t>Persistent Task-centric Leader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6309360"/>
            <a:ext cx="633953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0" i="0">
                <a:solidFill>
                  <a:srgbClr val="12182A"/>
                </a:solidFill>
                <a:latin typeface="Calibri"/>
              </a:rPr>
              <a:t>Qoder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858000"/>
            <a:ext cx="47548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F6FE0"/>
                </a:solidFill>
                <a:latin typeface="Calibri"/>
              </a:rPr>
              <a:t>Terminal SWE Agent Leader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858000"/>
            <a:ext cx="633953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0" i="0">
                <a:solidFill>
                  <a:srgbClr val="12182A"/>
                </a:solidFill>
                <a:latin typeface="Calibri"/>
              </a:rPr>
              <a:t>Claude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473952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C6B80"/>
                </a:solidFill>
                <a:latin typeface="Calibri"/>
              </a:rPr>
              <a:t>2026 AI Coding Agent Landscape — Executive Summary · Phase 8 Task 4 · rendering only, no new research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4415" y="6473952"/>
            <a:ext cx="7315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C6B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Calibri"/>
              </a:rPr>
              <a:t>Strategic Layer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713232"/>
            <a:ext cx="11185855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9FB4D6"/>
                </a:solidFill>
                <a:latin typeface="Calibri"/>
              </a:rPr>
              <a:t>8 ordered layers (Phase 7) — ordered, not ranked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85852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93543"/>
                <a:gridCol w="2293543"/>
                <a:gridCol w="2293543"/>
                <a:gridCol w="2293543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2F5FA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anchor="ctr" marL="63500" marR="63500" marT="25400" marB="25400"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2F5FA"/>
                          </a:solidFill>
                          <a:latin typeface="Calibri"/>
                        </a:rPr>
                        <a:t>Importance</a:t>
                      </a:r>
                    </a:p>
                  </a:txBody>
                  <a:tcPr anchor="ctr" marL="63500" marR="63500" marT="25400" marB="25400"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2F5FA"/>
                          </a:solidFill>
                          <a:latin typeface="Calibri"/>
                        </a:rPr>
                        <a:t>Differentiation</a:t>
                      </a:r>
                    </a:p>
                  </a:txBody>
                  <a:tcPr anchor="ctr" marL="63500" marR="63500" marT="25400" marB="25400"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2F5FA"/>
                          </a:solidFill>
                          <a:latin typeface="Calibri"/>
                        </a:rPr>
                        <a:t>Commoditization</a:t>
                      </a:r>
                    </a:p>
                  </a:txBody>
                  <a:tcPr anchor="ctr" marL="63500" marR="63500" marT="25400" marB="25400"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2F5FA"/>
                          </a:solidFill>
                          <a:latin typeface="Calibri"/>
                        </a:rPr>
                        <a:t>Potential moat</a:t>
                      </a:r>
                    </a:p>
                  </a:txBody>
                  <a:tcPr anchor="ctr" marL="63500" marR="63500" marT="25400" marB="25400">
                    <a:solidFill>
                      <a:srgbClr val="1218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2182A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Very high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Very high today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High–Medium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Medium unless proprietary access/cost/performance is durable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2182A"/>
                          </a:solidFill>
                          <a:latin typeface="Calibri"/>
                        </a:rPr>
                        <a:t>Harness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Very high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2182A"/>
                          </a:solidFill>
                          <a:latin typeface="Calibri"/>
                        </a:rPr>
                        <a:t>Runtime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Very high for autonomous agents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High (esp. enterprise)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2182A"/>
                          </a:solidFill>
                          <a:latin typeface="Calibri"/>
                        </a:rPr>
                        <a:t>Context / Memory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Very high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Medium–High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Medium–High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2182A"/>
                          </a:solidFill>
                          <a:latin typeface="Calibri"/>
                        </a:rPr>
                        <a:t>Tools / MCP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High as substrate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Low–Medium individually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2182A"/>
                          </a:solidFill>
                          <a:latin typeface="Calibri"/>
                        </a:rPr>
                        <a:t>Orchestration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High and rising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High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2182A"/>
                          </a:solidFill>
                          <a:latin typeface="Calibri"/>
                        </a:rPr>
                        <a:t>Workflow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Very high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Very high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Low–Medium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Very high</a:t>
                      </a:r>
                    </a:p>
                  </a:txBody>
                  <a:tcPr anchor="ctr" marL="63500" marR="63500" marT="25400" marB="25400">
                    <a:solidFill>
                      <a:srgbClr val="1B22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2182A"/>
                          </a:solidFill>
                          <a:latin typeface="Calibri"/>
                        </a:rPr>
                        <a:t>Distribution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Very high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Very high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2182A"/>
                          </a:solidFill>
                          <a:latin typeface="Calibri"/>
                        </a:rPr>
                        <a:t>Very high</a:t>
                      </a:r>
                    </a:p>
                  </a:txBody>
                  <a:tcPr anchor="ctr" marL="63500" marR="63500" marT="25400" marB="25400">
                    <a:solidFill>
                      <a:srgbClr val="21293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473952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C6B80"/>
                </a:solidFill>
                <a:latin typeface="Calibri"/>
              </a:rPr>
              <a:t>2026 AI Coding Agent Landscape — Executive Summary · Phase 8 Task 4 · rendering only, no new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7315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C6B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Calibri"/>
              </a:rPr>
              <a:t>Capability Commoditization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713232"/>
            <a:ext cx="11185855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9FB4D6"/>
                </a:solidFill>
                <a:latin typeface="Calibri"/>
              </a:rPr>
              <a:t>3-level structure (Phase 7) — no added capabilities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3545738" cy="502920"/>
          </a:xfrm>
          <a:prstGeom prst="rect">
            <a:avLst/>
          </a:prstGeom>
          <a:solidFill>
            <a:srgbClr val="12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3545738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50" b="1" i="0">
                <a:solidFill>
                  <a:srgbClr val="F2F5FA"/>
                </a:solidFill>
                <a:latin typeface="Calibri"/>
              </a:rPr>
              <a:t>Commodity / rapidly commoditizing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345429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Basic code generation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repository search / basic codebase context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terminal access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basic planning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multi-file editing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basic testing / command execution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MCP support (commoditizing)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Skills / reusable instructions (commoditizing)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2978" y="1371600"/>
            <a:ext cx="3545738" cy="502920"/>
          </a:xfrm>
          <a:prstGeom prst="rect">
            <a:avLst/>
          </a:prstGeom>
          <a:solidFill>
            <a:srgbClr val="12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2978" y="1371600"/>
            <a:ext cx="3545738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50" b="1" i="0">
                <a:solidFill>
                  <a:srgbClr val="F2F5FA"/>
                </a:solidFill>
                <a:latin typeface="Calibri"/>
              </a:rPr>
              <a:t>Differentiating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8698" y="2011680"/>
            <a:ext cx="345429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Reliable verification / repair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long-running execution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context / memory quality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agent orchestration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environment integration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human steering / review 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43036" y="1371600"/>
            <a:ext cx="3545738" cy="502920"/>
          </a:xfrm>
          <a:prstGeom prst="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3036" y="1371600"/>
            <a:ext cx="3545738" cy="5029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50" b="1" i="0">
                <a:solidFill>
                  <a:srgbClr val="F2F5FA"/>
                </a:solidFill>
                <a:latin typeface="Calibri"/>
              </a:rPr>
              <a:t>Potential moat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8756" y="2011680"/>
            <a:ext cx="345429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Runtime infrastructure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workflow integration (strong)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orchestration / control plane (strong)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organizational memory / context graph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verification / evaluation system</a:t>
            </a:r>
          </a:p>
          <a:p>
            <a:pPr algn="l">
              <a:spcAft>
                <a:spcPts val="700"/>
              </a:spcAft>
            </a:pPr>
            <a:r>
              <a:rPr sz="1250">
                <a:solidFill>
                  <a:srgbClr val="12182A"/>
                </a:solidFill>
                <a:latin typeface="Calibri"/>
              </a:rPr>
              <a:t>•  distribution (strong)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C6B80"/>
                </a:solidFill>
                <a:latin typeface="Calibri"/>
              </a:rPr>
              <a:t>2026 AI Coding Agent Landscape — Executive Summary · Phase 8 Task 4 · rendering only, no new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73952"/>
            <a:ext cx="7315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C6B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Calibri"/>
              </a:rPr>
              <a:t>Competitive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713232"/>
            <a:ext cx="11185855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9FB4D6"/>
                </a:solidFill>
                <a:latin typeface="Calibri"/>
              </a:rPr>
              <a:t>Relationships from Phase 6 only — typed, not ranked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2F6FE0"/>
                </a:solidFill>
                <a:latin typeface="Calibri"/>
              </a:rPr>
              <a:t>Direct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371600"/>
            <a:ext cx="835121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0" i="0">
                <a:solidFill>
                  <a:srgbClr val="12182A"/>
                </a:solidFill>
                <a:latin typeface="Calibri"/>
              </a:rPr>
              <a:t>Claude Code ↔ Codex   Cursor ↔ Qoder   Devin ↔ Factory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7432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2F6FE0"/>
                </a:solidFill>
                <a:latin typeface="Calibri"/>
              </a:rPr>
              <a:t>Adjacent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011680"/>
            <a:ext cx="835121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0" i="0">
                <a:solidFill>
                  <a:srgbClr val="12182A"/>
                </a:solidFill>
                <a:latin typeface="Calibri"/>
              </a:rPr>
              <a:t>Cursor ↔ Antigravity   Codex ↔ Devin   Copilot ↔ standalone agent platforms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27432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2F6FE0"/>
                </a:solidFill>
                <a:latin typeface="Calibri"/>
              </a:rPr>
              <a:t>Workflow alternatives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651760"/>
            <a:ext cx="835121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0" i="0">
                <a:solidFill>
                  <a:srgbClr val="12182A"/>
                </a:solidFill>
                <a:latin typeface="Calibri"/>
              </a:rPr>
              <a:t>Replit ↔ repo-centric agents   Antigravity ↔ Codex / Devin   Copilot ↔ standalone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91840"/>
            <a:ext cx="27432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2F6FE0"/>
                </a:solidFill>
                <a:latin typeface="Calibri"/>
              </a:rPr>
              <a:t>Architecture alternatives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291840"/>
            <a:ext cx="835121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0" i="0">
                <a:solidFill>
                  <a:srgbClr val="12182A"/>
                </a:solidFill>
                <a:latin typeface="Calibri"/>
              </a:rPr>
              <a:t>OpenCode ↔ vendor-owned harnesses   Factory ↔ SaaS-only cloud agents   Cursor self-hosted ↔ vendor-hosted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23360"/>
            <a:ext cx="1109441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1">
                <a:solidFill>
                  <a:srgbClr val="B57A12"/>
                </a:solidFill>
                <a:latin typeface="Calibri"/>
              </a:rPr>
              <a:t>No new competitive relationships invented.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C6B80"/>
                </a:solidFill>
                <a:latin typeface="Calibri"/>
              </a:rPr>
              <a:t>2026 AI Coding Agent Landscape — Executive Summary · Phase 8 Task 4 · rendering only, no new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73952"/>
            <a:ext cx="7315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C6B8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Calibri"/>
              </a:rPr>
              <a:t>Workflow 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713232"/>
            <a:ext cx="11185855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9FB4D6"/>
                </a:solidFill>
                <a:latin typeface="Calibri"/>
              </a:rPr>
              <a:t>Work unit rising — not yet whole-workflow autonomy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63040"/>
            <a:ext cx="11185855" cy="1097280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28655" cy="10972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12182A"/>
                </a:solidFill>
                <a:latin typeface="Calibri"/>
              </a:rPr>
              <a:t>Code Completion  →  Code / File Editing  →  Issue / Task Resolution  →  Repository-level Execution  →  Project / Product Work  →  Delegated Agent Workstream  →  Parallel Agent Portfolio  →  Engineering Workflow Automation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109441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F6FE0"/>
                </a:solidFill>
                <a:latin typeface="Calibri"/>
              </a:rPr>
              <a:t>Already happened  </a:t>
            </a:r>
            <a:r>
              <a:rPr sz="1500">
                <a:solidFill>
                  <a:srgbClr val="12182A"/>
                </a:solidFill>
                <a:latin typeface="Calibri"/>
              </a:rPr>
              <a:t>code generation → repo-level execution; terminal/runtime interaction standard; background agents productized.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F6FE0"/>
                </a:solidFill>
                <a:latin typeface="Calibri"/>
              </a:rPr>
              <a:t>Emerging now  </a:t>
            </a:r>
            <a:r>
              <a:rPr sz="1500">
                <a:solidFill>
                  <a:srgbClr val="12182A"/>
                </a:solidFill>
                <a:latin typeface="Calibri"/>
              </a:rPr>
              <a:t>human supervision of parallel agent portfolios; runtime provisioning as part of autonomy; persistent memory as context.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F6FE0"/>
                </a:solidFill>
                <a:latin typeface="Calibri"/>
              </a:rPr>
              <a:t>Not yet proven  </a:t>
            </a:r>
            <a:r>
              <a:rPr sz="1500">
                <a:solidFill>
                  <a:srgbClr val="12182A"/>
                </a:solidFill>
                <a:latin typeface="Calibri"/>
              </a:rPr>
              <a:t>reliable low-supervision end-to-end autonomous delivery (C035).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73952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C6B80"/>
                </a:solidFill>
                <a:latin typeface="Calibri"/>
              </a:rPr>
              <a:t>2026 AI Coding Agent Landscape — Executive Summary · Phase 8 Task 4 · rendering only, no new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73952"/>
            <a:ext cx="7315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C6B8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Calibri"/>
              </a:rPr>
              <a:t>Strategic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713232"/>
            <a:ext cx="11185855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9FB4D6"/>
                </a:solidFill>
                <a:latin typeface="Calibri"/>
              </a:rPr>
              <a:t>Phase 7 scenarios only — no forecasts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1185855" cy="1325880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44752"/>
            <a:ext cx="10728655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2F6FE0"/>
                </a:solidFill>
                <a:latin typeface="Calibri"/>
              </a:rPr>
              <a:t>A — Model Dominates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728655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12182A"/>
                </a:solidFill>
                <a:latin typeface="Calibri"/>
              </a:rPr>
              <a:t>Frontier-model progress remains so rapid that model quality is the main differentiator and harness/runtime standardizes. Plausible, but no longer sufficient as the default market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40864"/>
            <a:ext cx="10728655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1">
                <a:solidFill>
                  <a:srgbClr val="5C6B80"/>
                </a:solidFill>
                <a:latin typeface="Calibri"/>
              </a:rPr>
              <a:t>Limiting evidence: multi-model routing, provider-agnostic products, harness-sensitive benchmarks, runtime-heavy systems.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834640"/>
            <a:ext cx="11185855" cy="1325880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907792"/>
            <a:ext cx="10728655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2F6FE0"/>
                </a:solidFill>
                <a:latin typeface="Calibri"/>
              </a:rPr>
              <a:t>B — Agent System Dominates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10728655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12182A"/>
                </a:solidFill>
                <a:latin typeface="Calibri"/>
              </a:rPr>
              <a:t>Harness + runtime + context + memory + tools + orchestration become the main differentiators around still-important models. Most supported current trajectory.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03904"/>
            <a:ext cx="10728655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1">
                <a:solidFill>
                  <a:srgbClr val="5C6B80"/>
                </a:solidFill>
                <a:latin typeface="Calibri"/>
              </a:rPr>
              <a:t>Confidence: Medium-High.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297680"/>
            <a:ext cx="11185855" cy="1325880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370832"/>
            <a:ext cx="10728655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2F6FE0"/>
                </a:solidFill>
                <a:latin typeface="Calibri"/>
              </a:rPr>
              <a:t>C — Workflow Platform Dominates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10728655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0" i="0">
                <a:solidFill>
                  <a:srgbClr val="12182A"/>
                </a:solidFill>
                <a:latin typeface="Calibri"/>
              </a:rPr>
              <a:t>Agent systems embed in complete dev workflows (intake, spec, execution, review, deployment, governance, workforce management). Strong strategic direction, but not yet proven as the final winning structure.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66944"/>
            <a:ext cx="10728655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1">
                <a:solidFill>
                  <a:srgbClr val="5C6B80"/>
                </a:solidFill>
                <a:latin typeface="Calibri"/>
              </a:rPr>
              <a:t>Confidence: plausible, not proven.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 i="0">
                <a:solidFill>
                  <a:srgbClr val="B57A12"/>
                </a:solidFill>
                <a:latin typeface="Calibri"/>
              </a:rPr>
              <a:t>Support ordering: Scenario B &gt; Scenario C &gt; Scenario A. This is a strategic judgment, NOT a calibrated probability forecast.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73952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C6B80"/>
                </a:solidFill>
                <a:latin typeface="Calibri"/>
              </a:rPr>
              <a:t>2026 AI Coding Agent Landscape — Executive Summary · Phase 8 Task 4 · rendering only, no new 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73952"/>
            <a:ext cx="7315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C6B8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Calibri"/>
              </a:rPr>
              <a:t>Risks / Unknowns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713232"/>
            <a:ext cx="11185855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9FB4D6"/>
                </a:solidFill>
                <a:latin typeface="Calibri"/>
              </a:rPr>
              <a:t>Evidence limits carried forward, never resolved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5410047" cy="1463040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444752"/>
            <a:ext cx="519059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2F6FE0"/>
                </a:solidFill>
                <a:latin typeface="Calibri"/>
              </a:rPr>
              <a:t>Market denominator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828800"/>
            <a:ext cx="5190591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12182A"/>
                </a:solidFill>
                <a:latin typeface="Calibri"/>
              </a:rPr>
              <a:t>No unified public denominator covers commercial, OSS and China-market coding agents; no defensible single global market-share table for Aug 2026 (C005, C036).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371600"/>
            <a:ext cx="5410047" cy="1463040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8455" y="1444752"/>
            <a:ext cx="519059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2F6FE0"/>
                </a:solidFill>
                <a:latin typeface="Calibri"/>
              </a:rPr>
              <a:t>Vendor-claim 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8455" y="1828800"/>
            <a:ext cx="5190591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12182A"/>
                </a:solidFill>
                <a:latin typeface="Calibri"/>
              </a:rPr>
              <a:t>User/customer counts (Codex &gt;5M WAU, Copilot 4.7M/77K, Devin 1M+/4K, Qoder 6M+/100K, Replit 50M platform, Factory scale) are vendor claims, not independent fact (C030, C031).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971800"/>
            <a:ext cx="5410047" cy="1463040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3044952"/>
            <a:ext cx="519059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2F6FE0"/>
                </a:solidFill>
                <a:latin typeface="Calibri"/>
              </a:rPr>
              <a:t>Benchmark limitations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429000"/>
            <a:ext cx="5190591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12182A"/>
                </a:solidFill>
                <a:latin typeface="Calibri"/>
              </a:rPr>
              <a:t>Automated grader pass rates overstate maintainer acceptance by ~24.2 pts; benchmarks do not establish productivity; no clean uplift estimate exists (C013, C014, C016).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8727" y="2971800"/>
            <a:ext cx="5410047" cy="1463040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8455" y="3044952"/>
            <a:ext cx="519059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2F6FE0"/>
                </a:solidFill>
                <a:latin typeface="Calibri"/>
              </a:rPr>
              <a:t>Model / provider dependency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8455" y="3429000"/>
            <a:ext cx="5190591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12182A"/>
                </a:solidFill>
                <a:latin typeface="Calibri"/>
              </a:rPr>
              <a:t>Frontier improvements can quickly shift product capability; distribution can increase dependency on a model/provider ecosystem.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72000"/>
            <a:ext cx="5410047" cy="1463040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4645152"/>
            <a:ext cx="519059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2F6FE0"/>
                </a:solidFill>
                <a:latin typeface="Calibri"/>
              </a:rPr>
              <a:t>Corporate / product uncertainty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5029200"/>
            <a:ext cx="5190591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12182A"/>
                </a:solidFill>
                <a:latin typeface="Calibri"/>
              </a:rPr>
              <a:t>Families actively acquire, rename and expand surfaces (Q→Kiro, Gemini CLI→Antigravity, Windsurf→Devin Desktop, Tongyi Lingma→Qoder); Cursor ownership change is strategic context, not regression (C022–C025, C032).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78727" y="4572000"/>
            <a:ext cx="5410047" cy="1463040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8455" y="4645152"/>
            <a:ext cx="519059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2F6FE0"/>
                </a:solidFill>
                <a:latin typeface="Calibri"/>
              </a:rPr>
              <a:t>Hidden internal implementation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8455" y="5029200"/>
            <a:ext cx="5190591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12182A"/>
                </a:solidFill>
                <a:latin typeface="Calibri"/>
              </a:rPr>
              <a:t>Planner architectures, routing policies, evaluator internals and success classifiers are not public for most vendors.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172200"/>
            <a:ext cx="5410047" cy="1463040"/>
          </a:xfrm>
          <a:prstGeom prst="rect">
            <a:avLst/>
          </a:prstGeom>
          <a:solidFill>
            <a:srgbClr val="1B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6245352"/>
            <a:ext cx="5190591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2F6FE0"/>
                </a:solidFill>
                <a:latin typeface="Calibri"/>
              </a:rPr>
              <a:t>Future moat uncertainty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6629400"/>
            <a:ext cx="5190591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12182A"/>
                </a:solidFill>
                <a:latin typeface="Calibri"/>
              </a:rPr>
              <a:t>Workflow lock-in durability, long-horizon autonomy reliability, enterprise ROI and security outcomes remain under-measured or unproven (C035).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73952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C6B80"/>
                </a:solidFill>
                <a:latin typeface="Calibri"/>
              </a:rPr>
              <a:t>2026 AI Coding Agent Landscape — Executive Summary · Phase 8 Task 4 · rendering only, no new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73952"/>
            <a:ext cx="7315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C6B8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38100"/>
          </a:xfrm>
          <a:prstGeom prst="rect">
            <a:avLst/>
          </a:prstGeom>
          <a:solidFill>
            <a:srgbClr val="2F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45775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400" b="1" i="0">
                <a:solidFill>
                  <a:srgbClr val="F2F5FA"/>
                </a:solidFill>
                <a:latin typeface="Calibri"/>
              </a:rPr>
              <a:t>Final 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560320"/>
            <a:ext cx="104543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2F6FE0"/>
                </a:solidFill>
                <a:latin typeface="Calibri"/>
              </a:rPr>
              <a:t>Umbrella market  </a:t>
            </a:r>
            <a:r>
              <a:rPr sz="1700">
                <a:solidFill>
                  <a:srgbClr val="F2F5FA"/>
                </a:solidFill>
                <a:latin typeface="Calibri"/>
              </a:rPr>
              <a:t>substrate converging, product boundary diverging — compare by paradigm, not feature count.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F6FE0"/>
                </a:solidFill>
                <a:latin typeface="Calibri"/>
              </a:rPr>
              <a:t>Differentiation  </a:t>
            </a:r>
            <a:r>
              <a:rPr sz="1700">
                <a:solidFill>
                  <a:srgbClr val="F2F5FA"/>
                </a:solidFill>
                <a:latin typeface="Calibri"/>
              </a:rPr>
              <a:t>moving to harness, runtime, context/memory, orchestration, verification and workflow integration.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F6FE0"/>
                </a:solidFill>
                <a:latin typeface="Calibri"/>
              </a:rPr>
              <a:t>Top 10 is locked  </a:t>
            </a:r>
            <a:r>
              <a:rPr sz="1700">
                <a:solidFill>
                  <a:srgbClr val="F2F5FA"/>
                </a:solidFill>
                <a:latin typeface="Calibri"/>
              </a:rPr>
              <a:t>a research selection, not a live leaderboard; vendor scale figures stay labeled as vendor claims.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2F6FE0"/>
                </a:solidFill>
                <a:latin typeface="Calibri"/>
              </a:rPr>
              <a:t>Honest limits  </a:t>
            </a:r>
            <a:r>
              <a:rPr sz="1700">
                <a:solidFill>
                  <a:srgbClr val="F2F5FA"/>
                </a:solidFill>
                <a:latin typeface="Calibri"/>
              </a:rPr>
              <a:t>no global share table, autonomy not proven, productivity not cleanly measured — these are standing unknowns.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126480"/>
            <a:ext cx="10454335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5C6B80"/>
                </a:solidFill>
                <a:latin typeface="Calibri"/>
              </a:rPr>
              <a:t>Source: 08-dataset (products.csv, candidates.csv), 08-sources.md, 08-research-note.md. Phase 0–7 unmodified.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